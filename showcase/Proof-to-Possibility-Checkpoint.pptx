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this is a checkpoint, not the reveal. The goal today is one question — is the story landing?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arc left to right. Emphasize: story first, receipts second, tech third, invitation last.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governance detail is the differentiator — refusing to report a flattering-but-dirty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demoing live: show Systems (DRIPS animates) and Role Fit (click AI Enablement).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Signal, not blueprint. Enough to show it's real; not enough to spoil the full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gratitude — Ian's framing started this. End on question 3 to make next steps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1097280"/>
            <a:ext cx="109728" cy="109728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1920240"/>
            <a:ext cx="109728" cy="109728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1371600"/>
            <a:ext cx="109728" cy="109728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5" name="Shape 3"/>
          <p:cNvSpPr/>
          <p:nvPr/>
        </p:nvSpPr>
        <p:spPr>
          <a:xfrm>
            <a:off x="10149840" y="2926080"/>
            <a:ext cx="109728" cy="109728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6" name="Shape 4"/>
          <p:cNvSpPr/>
          <p:nvPr/>
        </p:nvSpPr>
        <p:spPr>
          <a:xfrm>
            <a:off x="11064240" y="2743200"/>
            <a:ext cx="109728" cy="109728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7" name="Shape 5"/>
          <p:cNvSpPr/>
          <p:nvPr/>
        </p:nvSpPr>
        <p:spPr>
          <a:xfrm>
            <a:off x="9509760" y="2377440"/>
            <a:ext cx="109728" cy="109728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8" name="Shape 6"/>
          <p:cNvSpPr/>
          <p:nvPr/>
        </p:nvSpPr>
        <p:spPr>
          <a:xfrm>
            <a:off x="9747504" y="1152144"/>
            <a:ext cx="859536" cy="768096"/>
          </a:xfrm>
          <a:prstGeom prst="line">
            <a:avLst/>
          </a:prstGeom>
          <a:noFill/>
          <a:ln w="9525">
            <a:solidFill>
              <a:srgbClr val="35C4BD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61904" y="1975104"/>
            <a:ext cx="585216" cy="-548640"/>
          </a:xfrm>
          <a:prstGeom prst="line">
            <a:avLst/>
          </a:prstGeom>
          <a:noFill/>
          <a:ln w="9525">
            <a:solidFill>
              <a:srgbClr val="35C4BD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61904" y="1975104"/>
            <a:ext cx="-512064" cy="950976"/>
          </a:xfrm>
          <a:prstGeom prst="line">
            <a:avLst/>
          </a:prstGeom>
          <a:noFill/>
          <a:ln w="9525">
            <a:solidFill>
              <a:srgbClr val="E8A25C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04704" y="2980944"/>
            <a:ext cx="859536" cy="-182880"/>
          </a:xfrm>
          <a:prstGeom prst="line">
            <a:avLst/>
          </a:prstGeom>
          <a:noFill/>
          <a:ln w="9525">
            <a:solidFill>
              <a:srgbClr val="35C4BD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2432304"/>
            <a:ext cx="182880" cy="-1225296"/>
          </a:xfrm>
          <a:prstGeom prst="line">
            <a:avLst/>
          </a:prstGeom>
          <a:noFill/>
          <a:ln w="9525">
            <a:solidFill>
              <a:srgbClr val="E8A25C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VISUAL CHECKPOINT · EARLY CONCEPT · NOT THE FULL BUILD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19202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</a:t>
            </a:r>
            <a:pPr indent="0" marL="0">
              <a:buNone/>
            </a:pPr>
            <a:r>
              <a:rPr lang="en-US" sz="6000" b="1" dirty="0">
                <a:solidFill>
                  <a:srgbClr val="35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pPr indent="0" marL="0">
              <a:buNone/>
            </a:pPr>
            <a:r>
              <a:rPr lang="en-US" sz="60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Possibility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22960" y="3383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AI-native showcase of systems, outcomes, and reusable learning — built as an interactive experience, not a slide deck about one.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5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Co-built with the AI stack it showcases — Claude Enterprise, ChatGPT, Copilot M365.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 Mensah  ·  Technical Business Integration  ·  Digital Core / Workforce Collaboration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SPINE OF THE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beats. One arc.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16232C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51560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51560" y="342900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work to technology, through an apprenticeship. The nontraditional door in became the differentiator — fluency in people, barriers, and change.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410712" y="3474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21608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16232C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50208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C4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50208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950208" y="342900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models that ran: the DRIPS continuous-improvement loop, front-door intake, and audited fleet outcomes with real numbers.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3474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620256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16232C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48856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5C4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48856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48856" y="342900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AI-native layer: governed agents in Lilly Cortex, Copilot Studio, Claude Enterprise — orchestration, not subscription.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208008" y="3474720"/>
            <a:ext cx="347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5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18904" y="2103120"/>
            <a:ext cx="2606040" cy="3291840"/>
          </a:xfrm>
          <a:prstGeom prst="roundRect">
            <a:avLst>
              <a:gd name="adj" fmla="val 2105"/>
            </a:avLst>
          </a:prstGeom>
          <a:solidFill>
            <a:srgbClr val="16232C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47504" y="2377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747504" y="27889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Possibility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47504" y="3429000"/>
            <a:ext cx="2148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invitation. Every capability shown is already in our stack — this experience is the guide other teams can follow.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A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hero is the human. The tools are the crew.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PROOF · OPERATIONAL RECEIPTS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are real, and they are audited.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101A21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22402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24128" y="32004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rooms completed in one audit run — the target was 100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21608" y="201168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101A21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22776" y="22402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5C4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94.2%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922776" y="32004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MTR fleet compliance — 1,417 of 1,505 units PASS (Sprint 70)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20256" y="201168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101A21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1424" y="22402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2,721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21424" y="32004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devices categorized and audited across the WCS fleet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518904" y="2011680"/>
            <a:ext cx="2606040" cy="2286000"/>
          </a:xfrm>
          <a:prstGeom prst="roundRect">
            <a:avLst>
              <a:gd name="adj" fmla="val 2400"/>
            </a:avLst>
          </a:prstGeom>
          <a:solidFill>
            <a:srgbClr val="101A21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20072" y="2240280"/>
            <a:ext cx="22037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A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720072" y="3200400"/>
            <a:ext cx="220370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teams running the DRIPS continuous-improvement loop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663440"/>
            <a:ext cx="10515600" cy="1234440"/>
          </a:xfrm>
          <a:prstGeom prst="roundRect">
            <a:avLst>
              <a:gd name="adj" fmla="val 4444"/>
            </a:avLst>
          </a:prstGeom>
          <a:solidFill>
            <a:srgbClr val="16232C"/>
          </a:solidFill>
          <a:ln w="12700">
            <a:solidFill>
              <a:srgbClr val="35C4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84632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built in:  </a:t>
            </a:r>
            <a:pPr indent="0" marL="0">
              <a:buNone/>
            </a:pPr>
            <a:r>
              <a:rPr lang="en-US" sz="14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DATA-MISSING syncs are separated from true FAILs, so the pass rate means something. Runbooks and evidence live in SharePoint — wins become permanent capabilities, not war stories.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 · WHAT THE EXPERIENCE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interactive command center, not a deck.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30552"/>
            <a:ext cx="146304" cy="146304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  </a:t>
            </a:r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+ three initiative cards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63640" y="2130552"/>
            <a:ext cx="146304" cy="146304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196596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Map   </a:t>
            </a:r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evolution, social work → tech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063240"/>
            <a:ext cx="146304" cy="146304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986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Studies   </a:t>
            </a:r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→ Need → Role → System → Evidence → Reuse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3063240"/>
            <a:ext cx="146304" cy="146304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89864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  </a:t>
            </a:r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DRIPS loop, animated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3995928"/>
            <a:ext cx="146304" cy="146304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313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Stack   </a:t>
            </a:r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clear job per tool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3995928"/>
            <a:ext cx="146304" cy="146304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83133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Fit   </a:t>
            </a:r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role, evidence lights up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928616"/>
            <a:ext cx="146304" cy="146304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76402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E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  </a:t>
            </a:r>
            <a:pPr indent="0" marL="0">
              <a:buNone/>
            </a:pPr>
            <a:r>
              <a:rPr lang="en-US" sz="12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starters + QR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57150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101A21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5870448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5C4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Zero-dependency HTML — </a:t>
            </a:r>
            <a:pPr indent="0" marL="0">
              <a:buNone/>
            </a:pPr>
            <a:r>
              <a:rPr lang="en-US" sz="13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in any browser, phone, Teams tab, or SharePoint page. No licenses needed to view. It is itself the proof of AI-native production.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POSSIBILITY · WHAT LANDS MONDAY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Monday's early version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16232C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350008"/>
            <a:ext cx="164592" cy="164592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209397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showcase, clickable end to end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08760" y="25146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seven-screen command center with live DRIPS loop and role-fit explorer — real content, real numbers.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16232C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3584448"/>
            <a:ext cx="164592" cy="164592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332841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one-pager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08760" y="37490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brief: strategic core, receipts, AI orchestration, and deliverables on a single page.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443484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16232C"/>
          </a:solidFill>
          <a:ln w="9525">
            <a:solidFill>
              <a:srgbClr val="3A5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4818888"/>
            <a:ext cx="164592" cy="164592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14" name="Text 12"/>
          <p:cNvSpPr/>
          <p:nvPr/>
        </p:nvSpPr>
        <p:spPr>
          <a:xfrm>
            <a:off x="1508760" y="4562856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track in production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08760" y="49834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Storyboard locked: Digital Fal opens and closes; the middle is the experience itself. 4-minute master + 90-second cut.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897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A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holding back: the full field-guide concept, the adoption pathways, and the character world. Monday shows the spine — the rest earns its reveal.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A2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things I'd value your read 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68680" y="2359152"/>
            <a:ext cx="502920" cy="502920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591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45920" y="228600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balance land?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45920" y="272491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story, real work, technical depth — is the mix right, or does one voice need to be louder?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593592"/>
            <a:ext cx="502920" cy="502920"/>
          </a:xfrm>
          <a:prstGeom prst="ellipse">
            <a:avLst/>
          </a:prstGeom>
          <a:solidFill>
            <a:srgbClr val="35C4BD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935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645920" y="352044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these the right receipts?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645920" y="395935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MRTS, Sprint 70, DRIPS across 21 teams — the numbers I'm leading with. Anything stronger I should surface?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4828032"/>
            <a:ext cx="502920" cy="502920"/>
          </a:xfrm>
          <a:prstGeom prst="ellipse">
            <a:avLst/>
          </a:prstGeom>
          <a:solidFill>
            <a:srgbClr val="E8A25C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828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45920" y="47548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EDE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sees it first?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45920" y="5193792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A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you and James — which leaders or teams would you put in front of the Monday version?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7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Thank you both for the push that started this.  —  Fal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2026-07-24T17:49:58Z</dcterms:created>
  <dcterms:modified xsi:type="dcterms:W3CDTF">2026-07-24T17:49:58Z</dcterms:modified>
</cp:coreProperties>
</file>